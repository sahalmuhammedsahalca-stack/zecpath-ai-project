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Zecpath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AI-Powered Recruitment &amp; Interview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Recruiters may need to review many candidate profiles.</a:t>
            </a:r>
          </a:p>
          <a:p>
            <a:pPr>
              <a:spcAft>
                <a:spcPts val="1000"/>
              </a:spcAft>
              <a:defRPr sz="1800"/>
            </a:pPr>
            <a:r>
              <a:t>Candidate information can be spread across different evaluation stages.</a:t>
            </a:r>
          </a:p>
          <a:p>
            <a:pPr>
              <a:spcAft>
                <a:spcPts val="1000"/>
              </a:spcAft>
              <a:defRPr sz="1800"/>
            </a:pPr>
            <a:r>
              <a:t>Manual comparison can become time-consuming.</a:t>
            </a:r>
          </a:p>
          <a:p>
            <a:pPr>
              <a:spcAft>
                <a:spcPts val="1000"/>
              </a:spcAft>
              <a:defRPr sz="1800"/>
            </a:pPr>
            <a:r>
              <a:t>Different evaluation results need structured comparison.</a:t>
            </a:r>
          </a:p>
          <a:p>
            <a:pPr>
              <a:spcAft>
                <a:spcPts val="1000"/>
              </a:spcAft>
              <a:defRPr sz="1800"/>
            </a:pPr>
            <a:r>
              <a:t>Zecpath organizes candidate evaluation into a structured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Resume parsing</a:t>
            </a:r>
          </a:p>
          <a:p>
            <a:pPr>
              <a:spcAft>
                <a:spcPts val="1000"/>
              </a:spcAft>
              <a:defRPr sz="1800"/>
            </a:pPr>
            <a:r>
              <a:t>ATS evaluation</a:t>
            </a:r>
          </a:p>
          <a:p>
            <a:pPr>
              <a:spcAft>
                <a:spcPts val="1000"/>
              </a:spcAft>
              <a:defRPr sz="1800"/>
            </a:pPr>
            <a:r>
              <a:t>AI screening</a:t>
            </a:r>
          </a:p>
          <a:p>
            <a:pPr>
              <a:spcAft>
                <a:spcPts val="1000"/>
              </a:spcAft>
              <a:defRPr sz="1800"/>
            </a:pPr>
            <a:r>
              <a:t>HR and technical evaluation</a:t>
            </a:r>
          </a:p>
          <a:p>
            <a:pPr>
              <a:spcAft>
                <a:spcPts val="1000"/>
              </a:spcAft>
              <a:defRPr sz="1800"/>
            </a:pPr>
            <a:r>
              <a:t>Behavioral and communication analysis</a:t>
            </a:r>
          </a:p>
          <a:p>
            <a:pPr>
              <a:spcAft>
                <a:spcPts val="1000"/>
              </a:spcAft>
              <a:defRPr sz="1800"/>
            </a:pPr>
            <a:r>
              <a:t>Integrity and machine-test evaluation</a:t>
            </a:r>
          </a:p>
          <a:p>
            <a:pPr>
              <a:spcAft>
                <a:spcPts val="1000"/>
              </a:spcAft>
              <a:defRPr sz="1800"/>
            </a:pPr>
            <a:r>
              <a:t>Scoring, ranking and final recommendation</a:t>
            </a:r>
          </a:p>
          <a:p>
            <a:pPr>
              <a:spcAft>
                <a:spcPts val="1000"/>
              </a:spcAft>
              <a:defRPr sz="1800"/>
            </a:pPr>
            <a:r>
              <a:t>Hiring intelligence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End-to-End Hiring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92024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Candidate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92024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Resume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79" y="192024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9" y="192024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AI Screening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19" y="192024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HR 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15468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Technical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15468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Behavioral /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315468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Integrity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315468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Unified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3154680"/>
            <a:ext cx="19659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Final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Input &amp; Data Processing</a:t>
            </a:r>
          </a:p>
          <a:p>
            <a:pPr>
              <a:spcAft>
                <a:spcPts val="1000"/>
              </a:spcAft>
              <a:defRPr sz="1800"/>
            </a:pPr>
            <a:r>
              <a:t>AI Evaluation Layer</a:t>
            </a:r>
          </a:p>
          <a:p>
            <a:pPr>
              <a:spcAft>
                <a:spcPts val="1000"/>
              </a:spcAft>
              <a:defRPr sz="1800"/>
            </a:pPr>
            <a:r>
              <a:t>Scoring &amp; Intelligence Layer</a:t>
            </a:r>
          </a:p>
          <a:p>
            <a:pPr>
              <a:spcAft>
                <a:spcPts val="1000"/>
              </a:spcAft>
              <a:defRPr sz="1800"/>
            </a:pPr>
            <a:r>
              <a:t>Recruiter Output Layer</a:t>
            </a:r>
          </a:p>
          <a:p>
            <a:pPr>
              <a:spcAft>
                <a:spcPts val="1000"/>
              </a:spcAft>
              <a:defRPr sz="1800"/>
            </a:pPr>
            <a:r>
              <a:t>API &amp; Integration</a:t>
            </a:r>
          </a:p>
          <a:p>
            <a:pPr>
              <a:spcAft>
                <a:spcPts val="1000"/>
              </a:spcAft>
              <a:defRPr sz="1800"/>
            </a:pPr>
            <a:r>
              <a:t>Security &amp; Governance</a:t>
            </a:r>
          </a:p>
          <a:p>
            <a:pPr>
              <a:spcAft>
                <a:spcPts val="1000"/>
              </a:spcAft>
              <a:defRPr sz="1800"/>
            </a:pPr>
            <a:r>
              <a:t>Performance &amp; Scalability</a:t>
            </a:r>
          </a:p>
          <a:p>
            <a:pPr>
              <a:spcAft>
                <a:spcPts val="1000"/>
              </a:spcAft>
              <a:defRPr sz="1800"/>
            </a:pPr>
            <a:r>
              <a:t>Monitoring &amp; Observability</a:t>
            </a:r>
          </a:p>
          <a:p>
            <a:pPr>
              <a:spcAft>
                <a:spcPts val="1000"/>
              </a:spcAft>
              <a:defRPr sz="1800"/>
            </a:pPr>
            <a:r>
              <a:t>Stabilization and System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AI Module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Data: parsers, answer understanding, transcripts and speech processing</a:t>
            </a:r>
          </a:p>
          <a:p>
            <a:pPr>
              <a:spcAft>
                <a:spcPts val="1000"/>
              </a:spcAft>
              <a:defRPr sz="1800"/>
            </a:pPr>
            <a:r>
              <a:t>Recruitment: ATS, screening, HR and technical evaluation</a:t>
            </a:r>
          </a:p>
          <a:p>
            <a:pPr>
              <a:spcAft>
                <a:spcPts val="1000"/>
              </a:spcAft>
              <a:defRPr sz="1800"/>
            </a:pPr>
            <a:r>
              <a:t>Analysis: behavioral, communication and integrity evaluation</a:t>
            </a:r>
          </a:p>
          <a:p>
            <a:pPr>
              <a:spcAft>
                <a:spcPts val="1000"/>
              </a:spcAft>
              <a:defRPr sz="1800"/>
            </a:pPr>
            <a:r>
              <a:t>Decision: scoring, unified scoring, ranking and confidence</a:t>
            </a:r>
          </a:p>
          <a:p>
            <a:pPr>
              <a:spcAft>
                <a:spcPts val="1000"/>
              </a:spcAft>
              <a:defRPr sz="1800"/>
            </a:pPr>
            <a:r>
              <a:t>Output: final recommendation and hiring intelligence</a:t>
            </a:r>
          </a:p>
          <a:p>
            <a:pPr>
              <a:spcAft>
                <a:spcPts val="1000"/>
              </a:spcAft>
              <a:defRPr sz="1800"/>
            </a:pPr>
            <a:r>
              <a:t>Platform: API, security, performance, monitoring and stabilization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Candidate Evaluation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Candidate information is processed through multiple evaluation stages.</a:t>
            </a:r>
          </a:p>
          <a:p>
            <a:pPr>
              <a:spcAft>
                <a:spcPts val="1000"/>
              </a:spcAft>
              <a:defRPr sz="1800"/>
            </a:pPr>
            <a:r>
              <a:t>Each stage produces structured evaluation information.</a:t>
            </a:r>
          </a:p>
          <a:p>
            <a:pPr>
              <a:spcAft>
                <a:spcPts val="1000"/>
              </a:spcAft>
              <a:defRPr sz="1800"/>
            </a:pPr>
            <a:r>
              <a:t>Scoring components support candidate comparison.</a:t>
            </a:r>
          </a:p>
          <a:p>
            <a:pPr>
              <a:spcAft>
                <a:spcPts val="1000"/>
              </a:spcAft>
              <a:defRPr sz="1800"/>
            </a:pPr>
            <a:r>
              <a:t>Ranking organizes candidates by overall suitability.</a:t>
            </a:r>
          </a:p>
          <a:p>
            <a:pPr>
              <a:spcAft>
                <a:spcPts val="1000"/>
              </a:spcAft>
              <a:defRPr sz="1800"/>
            </a:pPr>
            <a:r>
              <a:t>Final recommendation provides a recruiter-facing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Demonstration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CAND001 — ATS 92 | Screening 90 | HR 88 | Technical 91</a:t>
            </a:r>
          </a:p>
          <a:p>
            <a:pPr>
              <a:spcAft>
                <a:spcPts val="1000"/>
              </a:spcAft>
              <a:defRPr sz="1800"/>
            </a:pPr>
            <a:r>
              <a:t>Simulated recommendation: Highly Recommended</a:t>
            </a:r>
          </a:p>
          <a:p>
            <a:pPr>
              <a:spcAft>
                <a:spcPts val="1000"/>
              </a:spcAft>
              <a:defRPr sz="1800"/>
            </a:pPr>
            <a:r>
              <a:t>CAND002 — ATS 76 | Screening 72 | HR 75 | Technical 70</a:t>
            </a:r>
          </a:p>
          <a:p>
            <a:pPr>
              <a:spcAft>
                <a:spcPts val="1000"/>
              </a:spcAft>
              <a:defRPr sz="1800"/>
            </a:pPr>
            <a:r>
              <a:t>Simulated recommendation: Recommended</a:t>
            </a:r>
          </a:p>
          <a:p>
            <a:pPr>
              <a:spcAft>
                <a:spcPts val="1000"/>
              </a:spcAft>
              <a:defRPr sz="1800"/>
            </a:pPr>
            <a:r>
              <a:t>CAND003 — ATS 42 | Screening 48 | HR 65 | Technical 45</a:t>
            </a:r>
          </a:p>
          <a:p>
            <a:pPr>
              <a:spcAft>
                <a:spcPts val="1000"/>
              </a:spcAft>
              <a:defRPr sz="1800"/>
            </a:pPr>
            <a:r>
              <a:t>Simulated recommendation: Needs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Introduce candidate and target role</a:t>
            </a:r>
          </a:p>
          <a:p>
            <a:pPr>
              <a:spcAft>
                <a:spcPts val="1000"/>
              </a:spcAft>
              <a:defRPr sz="1800"/>
            </a:pPr>
            <a:r>
              <a:t>2. Show candidate information</a:t>
            </a:r>
          </a:p>
          <a:p>
            <a:pPr>
              <a:spcAft>
                <a:spcPts val="1000"/>
              </a:spcAft>
              <a:defRPr sz="1800"/>
            </a:pPr>
            <a:r>
              <a:t>3. Show ATS and screening results</a:t>
            </a:r>
          </a:p>
          <a:p>
            <a:pPr>
              <a:spcAft>
                <a:spcPts val="1000"/>
              </a:spcAft>
              <a:defRPr sz="1800"/>
            </a:pPr>
            <a:r>
              <a:t>4. Show interview evaluation</a:t>
            </a:r>
          </a:p>
          <a:p>
            <a:pPr>
              <a:spcAft>
                <a:spcPts val="1000"/>
              </a:spcAft>
              <a:defRPr sz="1800"/>
            </a:pPr>
            <a:r>
              <a:t>5. Show scoring and comparison</a:t>
            </a:r>
          </a:p>
          <a:p>
            <a:pPr>
              <a:spcAft>
                <a:spcPts val="1000"/>
              </a:spcAft>
              <a:defRPr sz="1800"/>
            </a:pPr>
            <a:r>
              <a:t>6. Show final recommendation</a:t>
            </a:r>
          </a:p>
          <a:p>
            <a:pPr>
              <a:spcAft>
                <a:spcPts val="1000"/>
              </a:spcAft>
              <a:defRPr sz="1800"/>
            </a:pPr>
            <a:r>
              <a:t>7. Explain the recruiter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Sample Hiring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CAND001 demonstrates a strong candidate scenario.</a:t>
            </a:r>
          </a:p>
          <a:p>
            <a:pPr>
              <a:spcAft>
                <a:spcPts val="1000"/>
              </a:spcAft>
              <a:defRPr sz="1800"/>
            </a:pPr>
            <a:r>
              <a:t>CAND002 demonstrates a moderate/developing candidate scenario.</a:t>
            </a:r>
          </a:p>
          <a:p>
            <a:pPr>
              <a:spcAft>
                <a:spcPts val="1000"/>
              </a:spcAft>
              <a:defRPr sz="1800"/>
            </a:pPr>
            <a:r>
              <a:t>CAND003 demonstrates lower technical suitability.</a:t>
            </a:r>
          </a:p>
          <a:p>
            <a:pPr>
              <a:spcAft>
                <a:spcPts val="1000"/>
              </a:spcAft>
              <a:defRPr sz="1800"/>
            </a:pPr>
            <a:r>
              <a:t>Different candidate profiles produce different evaluation outcomes.</a:t>
            </a:r>
          </a:p>
          <a:p>
            <a:pPr>
              <a:spcAft>
                <a:spcPts val="1000"/>
              </a:spcAft>
              <a:defRPr sz="1800"/>
            </a:pPr>
            <a:r>
              <a:t>Multiple evaluation signals provide structured evidence for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Reduce repetitive manual screening work</a:t>
            </a:r>
          </a:p>
          <a:p>
            <a:pPr>
              <a:spcAft>
                <a:spcPts val="1000"/>
              </a:spcAft>
              <a:defRPr sz="1800"/>
            </a:pPr>
            <a:r>
              <a:t>Organize candidate information</a:t>
            </a:r>
          </a:p>
          <a:p>
            <a:pPr>
              <a:spcAft>
                <a:spcPts val="1000"/>
              </a:spcAft>
              <a:defRPr sz="1800"/>
            </a:pPr>
            <a:r>
              <a:t>Standardize evaluation outputs</a:t>
            </a:r>
          </a:p>
          <a:p>
            <a:pPr>
              <a:spcAft>
                <a:spcPts val="1000"/>
              </a:spcAft>
              <a:defRPr sz="1800"/>
            </a:pPr>
            <a:r>
              <a:t>Make candidate comparison easier</a:t>
            </a:r>
          </a:p>
          <a:p>
            <a:pPr>
              <a:spcAft>
                <a:spcPts val="1000"/>
              </a:spcAft>
              <a:defRPr sz="1800"/>
            </a:pPr>
            <a:r>
              <a:t>Provide structured hiring intelligence</a:t>
            </a:r>
          </a:p>
          <a:p>
            <a:pPr>
              <a:spcAft>
                <a:spcPts val="1000"/>
              </a:spcAft>
              <a:defRPr sz="1800"/>
            </a:pPr>
            <a:r>
              <a:t>Support faster and better-informed recruiter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Production-Readiness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Security and governance</a:t>
            </a:r>
          </a:p>
          <a:p>
            <a:pPr>
              <a:spcAft>
                <a:spcPts val="1000"/>
              </a:spcAft>
              <a:defRPr sz="1800"/>
            </a:pPr>
            <a:r>
              <a:t>System simulation</a:t>
            </a:r>
          </a:p>
          <a:p>
            <a:pPr>
              <a:spcAft>
                <a:spcPts val="1000"/>
              </a:spcAft>
              <a:defRPr sz="1800"/>
            </a:pPr>
            <a:r>
              <a:t>Debugging and stabilization</a:t>
            </a:r>
          </a:p>
          <a:p>
            <a:pPr>
              <a:spcAft>
                <a:spcPts val="1000"/>
              </a:spcAft>
              <a:defRPr sz="1800"/>
            </a:pPr>
            <a:r>
              <a:t>Performance and scalability</a:t>
            </a:r>
          </a:p>
          <a:p>
            <a:pPr>
              <a:spcAft>
                <a:spcPts val="1000"/>
              </a:spcAft>
              <a:defRPr sz="1800"/>
            </a:pPr>
            <a:r>
              <a:t>Monitoring and observability</a:t>
            </a:r>
          </a:p>
          <a:p>
            <a:pPr>
              <a:spcAft>
                <a:spcPts val="1000"/>
              </a:spcAft>
              <a:defRPr sz="1800"/>
            </a:pPr>
            <a:r>
              <a:t>Technical documentation</a:t>
            </a:r>
          </a:p>
          <a:p>
            <a:pPr>
              <a:spcAft>
                <a:spcPts val="1000"/>
              </a:spcAft>
              <a:defRPr sz="1800"/>
            </a:pPr>
            <a:r>
              <a:t>Demo dataset</a:t>
            </a:r>
          </a:p>
          <a:p>
            <a:pPr>
              <a:spcAft>
                <a:spcPts val="1000"/>
              </a:spcAft>
              <a:defRPr sz="1800"/>
            </a:pPr>
            <a:r>
              <a:t>Internal review</a:t>
            </a:r>
          </a:p>
          <a:p>
            <a:pPr>
              <a:spcAft>
                <a:spcPts val="1000"/>
              </a:spcAft>
              <a:defRPr sz="1800"/>
            </a:pPr>
            <a:r>
              <a:t>Final feature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Additional recruitment communication automation</a:t>
            </a:r>
          </a:p>
          <a:p>
            <a:pPr>
              <a:spcAft>
                <a:spcPts val="1000"/>
              </a:spcAft>
              <a:defRPr sz="1800"/>
            </a:pPr>
            <a:r>
              <a:t>Further recruiter workflow automation</a:t>
            </a:r>
          </a:p>
          <a:p>
            <a:pPr>
              <a:spcAft>
                <a:spcPts val="1000"/>
              </a:spcAft>
              <a:defRPr sz="1800"/>
            </a:pPr>
            <a:r>
              <a:t>Extended hiring lifecycle automation</a:t>
            </a:r>
          </a:p>
          <a:p>
            <a:pPr>
              <a:spcAft>
                <a:spcPts val="1000"/>
              </a:spcAft>
              <a:defRPr sz="1800"/>
            </a:pPr>
            <a:r>
              <a:t>Selection and offer workflow expansion</a:t>
            </a:r>
          </a:p>
          <a:p>
            <a:pPr>
              <a:spcAft>
                <a:spcPts val="1000"/>
              </a:spcAft>
              <a:defRPr sz="1800"/>
            </a:pPr>
            <a:r>
              <a:t>These are roadmap capabilities, not claims of the current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Zecpath AI combines multiple recruitment evaluation capabilities.</a:t>
            </a:r>
          </a:p>
          <a:p>
            <a:pPr>
              <a:spcAft>
                <a:spcPts val="1000"/>
              </a:spcAft>
              <a:defRPr sz="1800"/>
            </a:pPr>
            <a:r>
              <a:t>The system supports candidate processing, evaluation and decision intelligence.</a:t>
            </a:r>
          </a:p>
          <a:p>
            <a:pPr>
              <a:spcAft>
                <a:spcPts val="1000"/>
              </a:spcAft>
              <a:defRPr sz="1800"/>
            </a:pPr>
            <a:r>
              <a:t>The demo shows different outcomes for different candidate profiles.</a:t>
            </a:r>
          </a:p>
          <a:p>
            <a:pPr>
              <a:spcAft>
                <a:spcPts val="1000"/>
              </a:spcAft>
              <a:defRPr sz="1800"/>
            </a:pPr>
            <a:r>
              <a:t>The platform is designed to support recruiters with structured information.</a:t>
            </a:r>
          </a:p>
          <a:p>
            <a:pPr>
              <a:spcAft>
                <a:spcPts val="1000"/>
              </a:spcAft>
              <a:defRPr sz="1800"/>
            </a:pPr>
            <a:r>
              <a:t>Thank you — Questions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